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6" r:id="rId3"/>
    <p:sldId id="260" r:id="rId4"/>
    <p:sldId id="258" r:id="rId5"/>
    <p:sldId id="257" r:id="rId6"/>
    <p:sldId id="259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8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C5D47-A36A-44A0-BC43-6BC0DF430F1D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753DC-BB2C-4CA9-8922-CDA0F3D6C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111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753DC-BB2C-4CA9-8922-CDA0F3D6CC7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598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F91DF-F2EE-58D1-3C63-A1D4F250B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0D953-D23E-744D-7909-8DA240B8F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368C5-38D5-3C2D-6D35-5A9E424B6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5A97C-B66D-46BB-B933-C703A0568D5B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61387-1B54-0770-0E7D-6A24643A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D4E69-391F-B581-AAEE-0582A437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EE2E5-C97E-4A16-AA63-69964854F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809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4D91-DCE6-FFFF-6F8D-958CF91A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505E0-6E71-ADF2-44A9-A99306149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97E39-1A66-1F16-1A06-59310A450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5A97C-B66D-46BB-B933-C703A0568D5B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7AB10-7ACF-9752-50B3-386FF450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19FAE-79AF-7C9C-9654-5E32BD87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EE2E5-C97E-4A16-AA63-69964854F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881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49B9-8CF9-1BF7-AD16-CC01855E9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B2A3B-78D5-4AAF-E6AB-92260C54A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FC00E-5CE9-EE53-59F0-878B764BE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5A97C-B66D-46BB-B933-C703A0568D5B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829A4-B5A9-9D14-2604-6A0FB59EC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5E32A-1B74-1444-1162-1E7E922F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EE2E5-C97E-4A16-AA63-69964854F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3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8F4F-486B-F494-60CB-29939B241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89EC5-61ED-D426-4741-0D3AA7889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F9735-13BC-8E3D-9700-12BF7292E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2EF31-3B1C-5F25-AD64-3FEC8EB99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5A97C-B66D-46BB-B933-C703A0568D5B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8CF2F-E1C6-669F-A7A2-8D8AE6F4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2FD92-57D4-77C6-1241-176CE87C5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EE2E5-C97E-4A16-AA63-69964854F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42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473B-11D9-EBFD-B5AA-280B96EE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70FFE-DD28-8109-CD60-ABDB5C354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6013A-CDDE-AB66-3162-EF4FEAAEB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B93336-7D9E-42F8-FF16-FA433EED9B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4EC5F-6085-8A2C-FD34-B4283027D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6CD998-2C95-98F1-5E49-11139474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5A97C-B66D-46BB-B933-C703A0568D5B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EC8A3C-0631-51C5-0D2B-47AC1E389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29202-3192-B13E-87A5-2750B645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EE2E5-C97E-4A16-AA63-69964854F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744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04945-AB4C-4C94-02AE-FEB315111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8255F-D4AE-3395-6AD8-05432539F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5A97C-B66D-46BB-B933-C703A0568D5B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C28694-C422-40F1-758A-2482B58F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1DAB6-A9B8-4E07-EAD6-AC24DCFD8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EE2E5-C97E-4A16-AA63-69964854F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592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D6DF68-A6F2-CDD3-32CA-CADEF299B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5A97C-B66D-46BB-B933-C703A0568D5B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98AB6-E099-961C-7877-40EB4C63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3F016-DFAA-D325-5D31-D831D82B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EE2E5-C97E-4A16-AA63-69964854F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311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D1AD3-8248-07AA-2A1E-653AA6DA4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E69B5-F375-52CD-137D-53EF98DAB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FFB81-B612-4B7F-31EB-23C96CA07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C410F-FB44-F8DA-3661-9CCAF75AB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5A97C-B66D-46BB-B933-C703A0568D5B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4027A-6148-7BF6-CE82-F32FAA302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72467-6C2F-9120-CD17-3915E6F9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EE2E5-C97E-4A16-AA63-69964854F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855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D93F-1081-1F87-577A-1FDFD1863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DC10C-8956-BC1A-D892-D14B83A73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8233E-E1AC-33EE-59D5-AB7C23060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C6F73-DC35-AEB3-B096-97248D45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5A97C-B66D-46BB-B933-C703A0568D5B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B76E0-C9CC-0404-D6C9-82884AF0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5C2B1-0F19-77E6-0C9A-1B5AEE57F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EE2E5-C97E-4A16-AA63-69964854F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272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41A02-2859-7422-9EAA-FEE3D102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E7FA51-1A90-B370-6ABA-A0D2E996C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7B23E-EB87-2FB5-C40E-0F86D2A4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5A97C-B66D-46BB-B933-C703A0568D5B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3222D-A6E9-CB30-9727-D4E2EF04D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B1415-6DCA-1485-C0CB-3C9681D6E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EE2E5-C97E-4A16-AA63-69964854F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57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1FB836-3B54-77A4-F21E-C2AABC7B6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FF8C6-B542-6781-98C6-6C065B910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E9E5B-B359-7904-E4A6-D45A59CB0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5A97C-B66D-46BB-B933-C703A0568D5B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78E08-2BBF-25AF-60CD-03046F93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CF60A-6BC3-6CE1-E96D-7D19F6C2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EE2E5-C97E-4A16-AA63-69964854F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85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63FEC-E786-F40E-9416-31A24B361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E5D63-8616-310E-F0D6-B1B6C5F62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8470A-659D-006A-2D0D-07884077E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A5A97C-B66D-46BB-B933-C703A0568D5B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3C6D4-EEBC-EDB2-373E-4245219D5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2A62-99B4-AAEF-420B-630C7B37D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4EE2E5-C97E-4A16-AA63-69964854F4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72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gebra.org/m/ye79r6ws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CC76-C8C3-9A2D-07AC-EEB0003529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Topological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F635E-B302-A917-E2D7-7FE86BF39A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Discussion Session</a:t>
            </a:r>
          </a:p>
        </p:txBody>
      </p:sp>
    </p:spTree>
    <p:extLst>
      <p:ext uri="{BB962C8B-B14F-4D97-AF65-F5344CB8AC3E}">
        <p14:creationId xmlns:p14="http://schemas.microsoft.com/office/powerpoint/2010/main" val="2549932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8BD54-8E5F-4306-B05F-D8518A7F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599" cy="449263"/>
          </a:xfrm>
        </p:spPr>
        <p:txBody>
          <a:bodyPr>
            <a:normAutofit fontScale="90000"/>
          </a:bodyPr>
          <a:lstStyle/>
          <a:p>
            <a:pPr algn="ctr"/>
            <a:r>
              <a:rPr lang="en-NG" dirty="0"/>
              <a:t>QUESTIONS ANSWERED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12A6C-9969-47A5-8EB2-589F47B6F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1563"/>
            <a:ext cx="10515600" cy="5105400"/>
          </a:xfrm>
        </p:spPr>
        <p:txBody>
          <a:bodyPr/>
          <a:lstStyle/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485091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36F7-6C2B-1177-B394-6EEF1045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Metric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28AA2-B356-0460-790B-5E1FD58A2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60268" cy="452653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1500" b="1" dirty="0"/>
              <a:t>Definition: </a:t>
            </a:r>
          </a:p>
          <a:p>
            <a:pPr marL="0" indent="0" algn="just">
              <a:buNone/>
            </a:pPr>
            <a:r>
              <a:rPr lang="en-GB" sz="1500" dirty="0"/>
              <a:t>A metric space is a set together with a notion of distance between its elements, usually called points. The distance is measured by a function called a metric or distance function</a:t>
            </a:r>
          </a:p>
          <a:p>
            <a:pPr algn="just">
              <a:buFont typeface="+mj-lt"/>
              <a:buAutoNum type="arabicPeriod"/>
            </a:pPr>
            <a:endParaRPr lang="en-GB" sz="1500" dirty="0"/>
          </a:p>
          <a:p>
            <a:pPr algn="just">
              <a:buFont typeface="+mj-lt"/>
              <a:buAutoNum type="arabicPeriod"/>
            </a:pPr>
            <a:endParaRPr lang="en-GB" sz="1500" dirty="0"/>
          </a:p>
          <a:p>
            <a:pPr algn="just">
              <a:buFont typeface="+mj-lt"/>
              <a:buAutoNum type="arabicPeriod"/>
            </a:pPr>
            <a:endParaRPr lang="en-GB" sz="1500" dirty="0"/>
          </a:p>
          <a:p>
            <a:pPr algn="just">
              <a:buFont typeface="+mj-lt"/>
              <a:buAutoNum type="arabicPeriod"/>
            </a:pPr>
            <a:endParaRPr lang="en-GB" sz="1500" dirty="0"/>
          </a:p>
          <a:p>
            <a:pPr marL="0" indent="0" algn="just">
              <a:buNone/>
            </a:pPr>
            <a:endParaRPr lang="en-GB" sz="1500" dirty="0"/>
          </a:p>
          <a:p>
            <a:pPr marL="0" indent="0" algn="just">
              <a:buNone/>
            </a:pPr>
            <a:r>
              <a:rPr lang="en-GB" sz="1500" dirty="0"/>
              <a:t>In simpler terms, a metric space provides a way of defining the distance between any two points in a set.</a:t>
            </a:r>
          </a:p>
          <a:p>
            <a:pPr algn="just"/>
            <a:endParaRPr lang="en-GB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6FDC7-7658-5F83-7B5C-A2F7B003C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60" y="2957882"/>
            <a:ext cx="6360369" cy="1325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BEAA8B-C585-578E-65D4-805F4B39FC3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49" r="25638" b="17447"/>
          <a:stretch/>
        </p:blipFill>
        <p:spPr>
          <a:xfrm>
            <a:off x="8097256" y="2444917"/>
            <a:ext cx="3378340" cy="328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94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36F7-6C2B-1177-B394-6EEF1045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 err="1"/>
              <a:t>Hausdroff</a:t>
            </a:r>
            <a:r>
              <a:rPr lang="en-GB" sz="3200" dirty="0"/>
              <a:t>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28AA2-B356-0460-790B-5E1FD58A2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60268" cy="4526537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distance measures how far two subsets of metric space are from each other.</a:t>
            </a:r>
          </a:p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greatest distance of all the distance from a point in one set to the closest point in the other set.</a:t>
            </a:r>
          </a:p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in Real Cases?</a:t>
            </a:r>
          </a:p>
          <a:p>
            <a:pPr marL="0" indent="0" algn="just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Problem: 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how similar two shapes are.</a:t>
            </a:r>
          </a:p>
          <a:p>
            <a:pPr algn="just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the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Hausdorff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 between the edge points of two shapes to quantify their similarity.</a:t>
            </a:r>
          </a:p>
          <a:p>
            <a:pPr marL="0" indent="0" algn="just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Recognition: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Identify objects in images.</a:t>
            </a:r>
          </a:p>
          <a:p>
            <a:pPr algn="just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shape of detected objects with a template shape using the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Hausdorff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distance.</a:t>
            </a:r>
          </a:p>
          <a:p>
            <a:pPr marL="0" indent="0" algn="just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Detection Problem: </a:t>
            </a: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changes in an object or area over time.</a:t>
            </a:r>
          </a:p>
          <a:p>
            <a:pPr algn="just"/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Hausdorff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 between images taken at different times to identify significant changes.</a:t>
            </a:r>
          </a:p>
          <a:p>
            <a:pPr algn="just"/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D6BDAE-B4AE-F15C-2C5D-45A71EE72F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120"/>
          <a:stretch/>
        </p:blipFill>
        <p:spPr>
          <a:xfrm>
            <a:off x="7597302" y="4088892"/>
            <a:ext cx="4382430" cy="26896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B43A93-3143-4DFE-98E1-BBE5AD8BD92E}"/>
              </a:ext>
            </a:extLst>
          </p:cNvPr>
          <p:cNvSpPr txBox="1"/>
          <p:nvPr/>
        </p:nvSpPr>
        <p:spPr>
          <a:xfrm>
            <a:off x="7597302" y="1825624"/>
            <a:ext cx="41905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two non-empty subsets X and Y of a metric space (𝑋,𝑑), the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Hausdorff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 d H​ (X,Y) is defined as: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C06EC0-962A-5E88-414C-BA5978BF8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64" y="3184608"/>
            <a:ext cx="4382430" cy="73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236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36F7-6C2B-1177-B394-6EEF1045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Gromov </a:t>
            </a:r>
            <a:r>
              <a:rPr lang="en-GB" sz="3200" dirty="0" err="1"/>
              <a:t>Hausdroff</a:t>
            </a:r>
            <a:r>
              <a:rPr lang="en-GB" sz="3200" dirty="0"/>
              <a:t>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28AA2-B356-0460-790B-5E1FD58A2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4821" cy="4667250"/>
          </a:xfrm>
        </p:spPr>
        <p:txBody>
          <a:bodyPr>
            <a:normAutofit/>
          </a:bodyPr>
          <a:lstStyle/>
          <a:p>
            <a:pPr algn="just"/>
            <a:r>
              <a:rPr lang="en-GB" sz="1500" dirty="0"/>
              <a:t>This distance measures how far two compact metric spaces are from being isometric. </a:t>
            </a:r>
          </a:p>
          <a:p>
            <a:pPr marL="0" indent="0" algn="just">
              <a:buNone/>
            </a:pPr>
            <a:r>
              <a:rPr lang="en-GB" sz="1500" b="1" dirty="0"/>
              <a:t>Definition</a:t>
            </a:r>
          </a:p>
          <a:p>
            <a:pPr marL="0" indent="0" algn="just">
              <a:buNone/>
            </a:pPr>
            <a:r>
              <a:rPr lang="en-GB" sz="1500" dirty="0"/>
              <a:t>If X and Y are two compact metric spaces, then </a:t>
            </a:r>
            <a:r>
              <a:rPr lang="en-GB" sz="1500" dirty="0" err="1"/>
              <a:t>dGH</a:t>
            </a:r>
            <a:r>
              <a:rPr lang="en-GB" sz="1500" dirty="0"/>
              <a:t> (X, Y) is defined to be the infimum of all numbers </a:t>
            </a:r>
            <a:r>
              <a:rPr lang="en-GB" sz="1500" dirty="0" err="1"/>
              <a:t>dH</a:t>
            </a:r>
            <a:r>
              <a:rPr lang="en-GB" sz="1500" dirty="0"/>
              <a:t>(f(X), g(Y)) for all (compact) metric spaces M and all isometric embeddings f : X → M and g : Y → M. Here </a:t>
            </a:r>
            <a:r>
              <a:rPr lang="en-GB" sz="1500" dirty="0" err="1"/>
              <a:t>dH</a:t>
            </a:r>
            <a:r>
              <a:rPr lang="en-GB" sz="1500" dirty="0"/>
              <a:t> denotes </a:t>
            </a:r>
            <a:r>
              <a:rPr lang="en-GB" sz="1500" dirty="0" err="1"/>
              <a:t>Hausdorff</a:t>
            </a:r>
            <a:r>
              <a:rPr lang="en-GB" sz="1500" dirty="0"/>
              <a:t> distance between subsets in M.</a:t>
            </a:r>
          </a:p>
          <a:p>
            <a:pPr algn="just"/>
            <a:endParaRPr lang="en-GB" sz="1500" dirty="0"/>
          </a:p>
          <a:p>
            <a:pPr algn="just"/>
            <a:endParaRPr lang="en-GB" sz="1500" dirty="0"/>
          </a:p>
          <a:p>
            <a:pPr algn="just"/>
            <a:endParaRPr lang="en-GB" sz="1500" dirty="0"/>
          </a:p>
          <a:p>
            <a:pPr marL="0" indent="0" algn="just">
              <a:buNone/>
            </a:pPr>
            <a:r>
              <a:rPr lang="en-GB" sz="1500" dirty="0"/>
              <a:t>where 𝜑𝑋:𝑋→𝑍</a:t>
            </a:r>
            <a:r>
              <a:rPr lang="el-GR" sz="1500" dirty="0"/>
              <a:t>φ </a:t>
            </a:r>
            <a:r>
              <a:rPr lang="en-GB" sz="1500" dirty="0"/>
              <a:t>X​ :X→Z and 𝜑𝑌:𝑌→𝑍</a:t>
            </a:r>
            <a:r>
              <a:rPr lang="el-GR" sz="1500" dirty="0"/>
              <a:t>φ </a:t>
            </a:r>
            <a:r>
              <a:rPr lang="en-GB" sz="1500" dirty="0"/>
              <a:t>Y​ :Y→Z are isometric embeddings of 𝑋X and 𝑌Y into a common metric space 𝑍Z, and 𝑑𝐻d H​  denotes the </a:t>
            </a:r>
            <a:r>
              <a:rPr lang="en-GB" sz="1500" dirty="0" err="1"/>
              <a:t>Hausdorff</a:t>
            </a:r>
            <a:r>
              <a:rPr lang="en-GB" sz="1500" dirty="0"/>
              <a:t> distance in 𝑍Z.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83F36-B273-015D-F3AC-35610B0A7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3207" y="2239691"/>
            <a:ext cx="4001879" cy="32424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15B4B9-10D1-A43B-DAF5-CC2E08DE7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804" y="3860934"/>
            <a:ext cx="5189578" cy="59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900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36F7-6C2B-1177-B394-6EEF1045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Gromov </a:t>
            </a:r>
            <a:r>
              <a:rPr lang="en-GB" sz="3200" dirty="0" err="1"/>
              <a:t>Hausdroff</a:t>
            </a:r>
            <a:r>
              <a:rPr lang="en-GB" sz="3200" dirty="0"/>
              <a:t> Distance-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28AA2-B356-0460-790B-5E1FD58A2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9545" cy="4390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500" b="1" dirty="0"/>
              <a:t>				Applied in Real Cases?</a:t>
            </a:r>
          </a:p>
          <a:p>
            <a:pPr>
              <a:buFont typeface="+mj-lt"/>
              <a:buAutoNum type="arabicPeriod"/>
            </a:pPr>
            <a:r>
              <a:rPr lang="en-GB" sz="1500" b="1" dirty="0"/>
              <a:t>Shape Comparison</a:t>
            </a:r>
            <a:r>
              <a:rPr lang="en-GB" sz="15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500" b="1" dirty="0"/>
              <a:t>Problem</a:t>
            </a:r>
            <a:r>
              <a:rPr lang="en-GB" sz="1500" dirty="0"/>
              <a:t>: Compare the overall structure of two 3D shapes.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500" b="1" dirty="0"/>
              <a:t>Application</a:t>
            </a:r>
            <a:r>
              <a:rPr lang="en-GB" sz="1500" dirty="0"/>
              <a:t>: Use the Gromov-</a:t>
            </a:r>
            <a:r>
              <a:rPr lang="en-GB" sz="1500" dirty="0" err="1"/>
              <a:t>Hausdorff</a:t>
            </a:r>
            <a:r>
              <a:rPr lang="en-GB" sz="1500" dirty="0"/>
              <a:t> distance to measure how similar the shapes are, independent of their specific embedding in space.</a:t>
            </a:r>
          </a:p>
          <a:p>
            <a:pPr>
              <a:buFont typeface="+mj-lt"/>
              <a:buAutoNum type="arabicPeriod"/>
            </a:pPr>
            <a:r>
              <a:rPr lang="en-GB" sz="1500" b="1" dirty="0"/>
              <a:t>Clustering in Machine Learning</a:t>
            </a:r>
            <a:r>
              <a:rPr lang="en-GB" sz="15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500" b="1" dirty="0"/>
              <a:t>Problem</a:t>
            </a:r>
            <a:r>
              <a:rPr lang="en-GB" sz="1500" dirty="0"/>
              <a:t>: Cluster data sets based on their intrinsic geometric properties.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500" b="1" dirty="0"/>
              <a:t>Application</a:t>
            </a:r>
            <a:r>
              <a:rPr lang="en-GB" sz="1500" dirty="0"/>
              <a:t>: Use the Gromov-</a:t>
            </a:r>
            <a:r>
              <a:rPr lang="en-GB" sz="1500" dirty="0" err="1"/>
              <a:t>Hausdorff</a:t>
            </a:r>
            <a:r>
              <a:rPr lang="en-GB" sz="1500" dirty="0"/>
              <a:t> distance to compare data sets and cluster them based on their metric properties.</a:t>
            </a:r>
          </a:p>
          <a:p>
            <a:pPr>
              <a:buFont typeface="+mj-lt"/>
              <a:buAutoNum type="arabicPeriod"/>
            </a:pPr>
            <a:r>
              <a:rPr lang="en-GB" sz="1500" b="1" dirty="0"/>
              <a:t>Comparing Biological Structures</a:t>
            </a:r>
            <a:r>
              <a:rPr lang="en-GB" sz="15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500" b="1" dirty="0"/>
              <a:t>Problem</a:t>
            </a:r>
            <a:r>
              <a:rPr lang="en-GB" sz="1500" dirty="0"/>
              <a:t>: Compare the shapes of biological structures (e.g., proteins) that may not be easily aligned.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500" b="1" dirty="0"/>
              <a:t>Application</a:t>
            </a:r>
            <a:r>
              <a:rPr lang="en-GB" sz="1500" dirty="0"/>
              <a:t>: Use the Gromov-</a:t>
            </a:r>
            <a:r>
              <a:rPr lang="en-GB" sz="1500" dirty="0" err="1"/>
              <a:t>Hausdorff</a:t>
            </a:r>
            <a:r>
              <a:rPr lang="en-GB" sz="1500" dirty="0"/>
              <a:t> distance to quantify the similarity between structures, accounting for variations in shape and size.</a:t>
            </a:r>
          </a:p>
          <a:p>
            <a:pPr algn="just"/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225123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36F7-6C2B-1177-B394-6EEF1045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Difference Between </a:t>
            </a:r>
            <a:r>
              <a:rPr lang="en-GB" sz="2800" dirty="0" err="1"/>
              <a:t>Hausdorff</a:t>
            </a:r>
            <a:r>
              <a:rPr lang="en-GB" sz="2800" dirty="0"/>
              <a:t> and Gromov-</a:t>
            </a:r>
            <a:r>
              <a:rPr lang="en-GB" sz="2800" dirty="0" err="1"/>
              <a:t>Hausdorff</a:t>
            </a:r>
            <a:r>
              <a:rPr lang="en-GB" sz="2800" dirty="0"/>
              <a:t> Distances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28AA2-B356-0460-790B-5E1FD58A2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9545" cy="4390349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GB" sz="1800" b="1" dirty="0" err="1"/>
              <a:t>Hausdorff</a:t>
            </a:r>
            <a:r>
              <a:rPr lang="en-GB" sz="1800" b="1" dirty="0"/>
              <a:t> Distance</a:t>
            </a:r>
            <a:r>
              <a:rPr lang="en-GB" sz="1800" dirty="0"/>
              <a:t>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sz="1800" dirty="0"/>
              <a:t>Applies to subsets within a common metric space.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sz="1800" dirty="0"/>
              <a:t>Measures the maximum distance between the closest points of two sets.</a:t>
            </a:r>
          </a:p>
          <a:p>
            <a:pPr marL="742950" lvl="1" indent="-285750" algn="just">
              <a:buFont typeface="+mj-lt"/>
              <a:buAutoNum type="arabicPeriod"/>
            </a:pPr>
            <a:endParaRPr lang="en-GB" sz="1800" dirty="0"/>
          </a:p>
          <a:p>
            <a:pPr marL="742950" lvl="1" indent="-285750" algn="just">
              <a:buFont typeface="+mj-lt"/>
              <a:buAutoNum type="arabicPeriod"/>
            </a:pPr>
            <a:endParaRPr lang="en-GB" sz="1800" dirty="0"/>
          </a:p>
          <a:p>
            <a:pPr algn="just">
              <a:buFont typeface="+mj-lt"/>
              <a:buAutoNum type="arabicPeriod"/>
            </a:pPr>
            <a:r>
              <a:rPr lang="en-GB" sz="1800" b="1" dirty="0"/>
              <a:t>Gromov-</a:t>
            </a:r>
            <a:r>
              <a:rPr lang="en-GB" sz="1800" b="1" dirty="0" err="1"/>
              <a:t>Hausdorff</a:t>
            </a:r>
            <a:r>
              <a:rPr lang="en-GB" sz="1800" b="1" dirty="0"/>
              <a:t> Distance</a:t>
            </a:r>
            <a:r>
              <a:rPr lang="en-GB" sz="1800" dirty="0"/>
              <a:t>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sz="1800" dirty="0"/>
              <a:t>Applies to entire metric spaces.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sz="1800" dirty="0"/>
              <a:t>Measures the minimum distance when embedding the spaces into a common metric space.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sz="1800" dirty="0"/>
              <a:t>More general and complex, considering the overall shape and structure of the spaces.</a:t>
            </a:r>
          </a:p>
        </p:txBody>
      </p:sp>
    </p:spTree>
    <p:extLst>
      <p:ext uri="{BB962C8B-B14F-4D97-AF65-F5344CB8AC3E}">
        <p14:creationId xmlns:p14="http://schemas.microsoft.com/office/powerpoint/2010/main" val="73441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36F7-6C2B-1177-B394-6EEF1045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Simplicial Complex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28AA2-B356-0460-790B-5E1FD58A2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421"/>
            <a:ext cx="6496455" cy="504345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simplex?</a:t>
            </a:r>
          </a:p>
          <a:p>
            <a:pPr marL="0" indent="0" algn="just">
              <a:buNone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simplex (plural: simplexes or simplices) is a generalization of the notion of a triangle or tetrahedron to arbitrary dimensions. The simplex is so named because it represents the simplest possible polytope in any given dimension. For example,</a:t>
            </a:r>
          </a:p>
          <a:p>
            <a:pPr algn="just"/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0-dimensional simplex is a point,</a:t>
            </a:r>
          </a:p>
          <a:p>
            <a:pPr algn="just"/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1-dimensional simplex is a line segment,</a:t>
            </a:r>
          </a:p>
          <a:p>
            <a:pPr algn="just"/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2-dimensional simplex is a triangle,</a:t>
            </a:r>
          </a:p>
          <a:p>
            <a:pPr algn="just"/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3-dimensional simplex is a tetrahedron, and</a:t>
            </a:r>
          </a:p>
          <a:p>
            <a:pPr algn="just"/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4-dimensional simplex is a 5-cell.</a:t>
            </a:r>
          </a:p>
          <a:p>
            <a:pPr marL="0" indent="0" algn="just">
              <a:buNone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Specifically, a k-simplex is a k-dimensional polytope that is the convex hull of its k + 1 vertices.</a:t>
            </a:r>
          </a:p>
          <a:p>
            <a:pPr marL="0" indent="0" algn="just">
              <a:buNone/>
            </a:pPr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marL="0" indent="0" algn="just">
              <a:buNone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simplicial complex  𝐾 is a set of simplices that satisfies the following conditions:  </a:t>
            </a:r>
          </a:p>
          <a:p>
            <a:pPr marL="342900" indent="-342900" algn="just">
              <a:buAutoNum type="arabicPeriod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face of a simplex from  𝐾 is also in  𝐾. </a:t>
            </a:r>
          </a:p>
          <a:p>
            <a:pPr marL="342900" indent="-342900" algn="just">
              <a:buAutoNum type="arabicPeriod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non-empty intersection of any two simplices 𝜎 1 , 𝜎 2 ∈ 𝐾 is a face of both  𝜎 1 and  𝜎 2.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D0B6B-82D9-5AC9-8CC9-AEBB7CBF8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028" y="1358698"/>
            <a:ext cx="4098589" cy="2305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CBA1CC-60B1-467F-5FBF-A12ABF269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191" y="3950114"/>
            <a:ext cx="2779609" cy="270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826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36F7-6C2B-1177-B394-6EEF1045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Geometric and Abstract Simplicial complex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C28AA2-B356-0460-790B-5E1FD58A2A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9421"/>
                <a:ext cx="6496455" cy="5043454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GB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Geometric Simplicial Complex:</a:t>
                </a:r>
              </a:p>
              <a:p>
                <a:pPr marL="0" indent="0" algn="just">
                  <a:buNone/>
                </a:pPr>
                <a:r>
                  <a:rPr lang="en-GB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geometric simplicial complex is a set of simplices such that:</a:t>
                </a:r>
              </a:p>
              <a:p>
                <a:pPr algn="just"/>
                <a:r>
                  <a:rPr lang="en-GB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Every face of a simplex in the complex is also a simplex in the complex.</a:t>
                </a:r>
              </a:p>
              <a:p>
                <a:pPr algn="just"/>
                <a:r>
                  <a:rPr lang="en-GB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intersection of any two simplices in the complex is either empty or a face of both simplices.</a:t>
                </a:r>
              </a:p>
              <a:p>
                <a:pPr marL="0" indent="0" algn="just">
                  <a:buNone/>
                </a:pPr>
                <a:r>
                  <a:rPr lang="en-GB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buNone/>
                </a:pPr>
                <a:r>
                  <a:rPr lang="en-GB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 geometric simplicial complex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5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1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pt-BR" sz="15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made of several triangles glued together along their edges. Each triangle is a 2-simplex, each edge is a 1-simplex, and each vertex is a 0-simplex.</a:t>
                </a:r>
              </a:p>
              <a:p>
                <a:pPr marL="0" indent="0" algn="just">
                  <a:buNone/>
                </a:pPr>
                <a:r>
                  <a:rPr lang="en-GB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Abstract Simplicial Complex:</a:t>
                </a:r>
              </a:p>
              <a:p>
                <a:pPr marL="0" indent="0" algn="just">
                  <a:buNone/>
                </a:pPr>
                <a:r>
                  <a:rPr lang="en-GB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abstract simplicial complex is a set V (the vertex set) and a collection of subsets of V (the simplices) such that: Every subset of a simplex is also a simplex (this includes the empty set).</a:t>
                </a:r>
              </a:p>
              <a:p>
                <a:pPr marL="0" indent="0" algn="just">
                  <a:buNone/>
                </a:pPr>
                <a:r>
                  <a:rPr lang="en-GB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0" indent="0" algn="just">
                  <a:buNone/>
                </a:pPr>
                <a:r>
                  <a:rPr lang="en-GB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 set of vertices 𝑉={𝑣1,𝑣2,𝑣3}. An abstract simplicial complex could be:</a:t>
                </a:r>
              </a:p>
              <a:p>
                <a:pPr marL="0" indent="0" algn="just">
                  <a:buNone/>
                </a:pPr>
                <a:r>
                  <a:rPr lang="en-GB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𝐾={{𝑣1},{𝑣2},{𝑣3},{𝑣1,𝑣2},{𝑣2,𝑣3},{𝑣1,𝑣3},{𝑣1,𝑣2,𝑣3}}. </a:t>
                </a:r>
              </a:p>
              <a:p>
                <a:pPr marL="0" indent="0" algn="just">
                  <a:buNone/>
                </a:pPr>
                <a:r>
                  <a:rPr lang="en-GB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complex includes all possible subsets of {𝑣1,𝑣2,𝑣3}, reflecting the structure of a triangle in a purely combinatorial way.</a:t>
                </a:r>
              </a:p>
              <a:p>
                <a:pPr marL="0" indent="0" algn="just">
                  <a:buNone/>
                </a:pPr>
                <a:endParaRPr lang="en-GB" sz="15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C28AA2-B356-0460-790B-5E1FD58A2A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9421"/>
                <a:ext cx="6496455" cy="5043454"/>
              </a:xfrm>
              <a:blipFill>
                <a:blip r:embed="rId2"/>
                <a:stretch>
                  <a:fillRect l="-376" t="-726" r="-376" b="-42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3CBA1CC-60B1-467F-5FBF-A12ABF269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438" y="1027906"/>
            <a:ext cx="2779609" cy="2703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AA27B4-7ED4-9E3A-5A3D-759948ADE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205" y="3971148"/>
            <a:ext cx="4086795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29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36F7-6C2B-1177-B394-6EEF1045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Difference between Geometric and Abstract Simplicial complex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28AA2-B356-0460-790B-5E1FD58A2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204" y="2023353"/>
            <a:ext cx="5873885" cy="21167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Geometric Simplicial Complex:</a:t>
            </a:r>
          </a:p>
          <a:p>
            <a:pPr algn="just"/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shapes and spaces in a geometric manner.</a:t>
            </a:r>
          </a:p>
          <a:p>
            <a:pPr algn="just"/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Simplices are actual geometric objects in some Euclidean space.</a:t>
            </a:r>
          </a:p>
          <a:p>
            <a:pPr algn="just"/>
            <a:endParaRPr lang="en-GB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Simplicial Complex:</a:t>
            </a:r>
          </a:p>
          <a:p>
            <a:pPr algn="just"/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combinatorial structure of how simplices are connected.</a:t>
            </a:r>
          </a:p>
          <a:p>
            <a:pPr algn="just"/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Simplices are sets of vertices without an intrinsic geometric realization.</a:t>
            </a:r>
          </a:p>
        </p:txBody>
      </p:sp>
    </p:spTree>
    <p:extLst>
      <p:ext uri="{BB962C8B-B14F-4D97-AF65-F5344CB8AC3E}">
        <p14:creationId xmlns:p14="http://schemas.microsoft.com/office/powerpoint/2010/main" val="2653478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36F7-6C2B-1177-B394-6EEF1045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Term: Geometric Realization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42B28-BD02-CEFA-2D74-34B10311836F}"/>
              </a:ext>
            </a:extLst>
          </p:cNvPr>
          <p:cNvSpPr txBox="1"/>
          <p:nvPr/>
        </p:nvSpPr>
        <p:spPr>
          <a:xfrm>
            <a:off x="838200" y="1685824"/>
            <a:ext cx="6000345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Geometric Realization?</a:t>
            </a:r>
          </a:p>
          <a:p>
            <a:pPr algn="just"/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Geometric realization refers to the process of representing an abstract simplicial complex as a geometric simplicial complex in an Euclidean space. Essentially, it involves assigning actual geometric shapes (points, line segments, triangles, etc.) to abstract simplices in a way that preserves their combinatorial structure.</a:t>
            </a:r>
          </a:p>
          <a:p>
            <a:pPr algn="just"/>
            <a:endParaRPr lang="en-GB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7D1531-7036-D293-F897-C28A86C72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514" y="1406630"/>
            <a:ext cx="4977746" cy="29572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5F3BB4-A4FF-3E9C-90FF-031D3AB6439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467"/>
          <a:stretch/>
        </p:blipFill>
        <p:spPr>
          <a:xfrm>
            <a:off x="988451" y="4085617"/>
            <a:ext cx="4410399" cy="167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497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C2A1A-D877-4A99-B75D-EE147B19D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NG" b="1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WAYS OF BUILDING SIMPLICIAL COMPLEXES</a:t>
            </a:r>
            <a:endParaRPr lang="en-NG" b="1" dirty="0"/>
          </a:p>
        </p:txBody>
      </p:sp>
    </p:spTree>
    <p:extLst>
      <p:ext uri="{BB962C8B-B14F-4D97-AF65-F5344CB8AC3E}">
        <p14:creationId xmlns:p14="http://schemas.microsoft.com/office/powerpoint/2010/main" val="3132814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50228-9A2E-405B-A881-723B8971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Simplicial Complexes can simply be defined as TRIANGLES EVERYWHERE. A good diagram illustrating the creation of simplicial complexes using triangles can be seen below:</a:t>
            </a:r>
            <a:endParaRPr lang="en-N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32F1D0-F165-4854-B7AB-DFCB74196A9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906" y="1933575"/>
            <a:ext cx="6072187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263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22A54-8957-4C37-BC54-2982D8288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illustration of a combination of these triangles at various dimensions to create a simplicial complex:</a:t>
            </a:r>
            <a:endParaRPr lang="en-N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9AD6BEE-5F14-418C-AC13-F9E60DF3941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138" y="1490663"/>
            <a:ext cx="6829425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436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C8409-2001-417F-8317-E7797F1EA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various ways to building a simplicial complexes. This includes: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Vietoris-Rips Complex (</a:t>
            </a:r>
            <a:r>
              <a:rPr lang="en-NG" sz="1800" dirty="0">
                <a:solidFill>
                  <a:srgbClr val="C55A1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MATERIAL</a:t>
            </a: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Cech Complex (</a:t>
            </a:r>
            <a:r>
              <a:rPr lang="en-NG" sz="1800" dirty="0">
                <a:solidFill>
                  <a:srgbClr val="C55A1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MATERIAL</a:t>
            </a: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lphaLcParenR"/>
            </a:pP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Delaunay Triangulation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Alpha Complex</a:t>
            </a:r>
          </a:p>
          <a:p>
            <a:pPr marL="0" indent="0">
              <a:buNone/>
            </a:pP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612879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9EF9C-4BE5-49E2-BECA-BB73690F0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NG" sz="1800" spc="75" dirty="0">
                <a:solidFill>
                  <a:srgbClr val="5A5A5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DIFFERENTIATING VIETORIS-RIPS COMPLEX AND THE CECH COMPLEX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NG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Vietoris-Rips complex</a:t>
            </a: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uses a distance function to form simplicial complexes. A </a:t>
            </a:r>
            <a:r>
              <a:rPr lang="en-NG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k-simplex</a:t>
            </a: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included if every pair of its vertices is within a specified distance threshold “ϵ” of each other. In simpler terms, it uses a pairwise distance function to create the simplicial complexes.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NG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Čech complex</a:t>
            </a: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utilizes a radius, a distance function, and spheres (or circles in 2D). A </a:t>
            </a:r>
            <a:r>
              <a:rPr lang="en-NG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k-simplex </a:t>
            </a: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included if the </a:t>
            </a:r>
            <a:r>
              <a:rPr lang="en-NG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(k+1) </a:t>
            </a: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spheres centered at its vertices have a common intersection.</a:t>
            </a:r>
          </a:p>
          <a:p>
            <a:pPr marL="0" indent="0">
              <a:buNone/>
            </a:pP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103859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7D50A-605A-4E25-B40E-69E621A5B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5838"/>
            <a:ext cx="10515600" cy="5191125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CECH COMPLEX:</a:t>
            </a:r>
          </a:p>
          <a:p>
            <a:pPr algn="ctr">
              <a:lnSpc>
                <a:spcPct val="107000"/>
              </a:lnSpc>
              <a:spcBef>
                <a:spcPts val="1200"/>
              </a:spcBef>
            </a:pPr>
            <a:r>
              <a:rPr lang="en-NG" sz="18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PICTORIAL ILLUSTRATION</a:t>
            </a:r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D4D750-4075-48C8-830D-16F00F7139E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526" y="2486025"/>
            <a:ext cx="8002746" cy="382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28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B17F6A-0429-4686-A553-5E72E9464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5838"/>
            <a:ext cx="10515600" cy="5191125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CECH COMPLEX:</a:t>
            </a:r>
          </a:p>
          <a:p>
            <a:pPr algn="ctr">
              <a:lnSpc>
                <a:spcPct val="107000"/>
              </a:lnSpc>
              <a:spcBef>
                <a:spcPts val="1200"/>
              </a:spcBef>
            </a:pPr>
            <a:r>
              <a:rPr lang="en-NG" sz="1800" b="1" kern="0" dirty="0">
                <a:solidFill>
                  <a:srgbClr val="2F5496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GIF</a:t>
            </a:r>
            <a:r>
              <a:rPr lang="en-NG" sz="18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ILLUSTRATION</a:t>
            </a:r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FC24B9-65FF-4AF8-8142-F16DBDAAE63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2943"/>
            <a:ext cx="5257800" cy="36191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80AC1C-DCA6-4996-A134-30A093F565D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52943"/>
            <a:ext cx="4148138" cy="361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171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17940-3AE9-4E2B-B7CF-5C627C0EE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451"/>
            <a:ext cx="10515600" cy="4814888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VIETORIS-RIPS COMPLEX:</a:t>
            </a:r>
          </a:p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n-NG" sz="18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PICTORIAL ILLUSTRATION</a:t>
            </a:r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E581D2-41DD-4F93-A29B-01E70A8CD62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95375"/>
            <a:ext cx="3019425" cy="3467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8777F9-596B-4888-B4B2-53D4922457C9}"/>
              </a:ext>
            </a:extLst>
          </p:cNvPr>
          <p:cNvSpPr txBox="1"/>
          <p:nvPr/>
        </p:nvSpPr>
        <p:spPr>
          <a:xfrm>
            <a:off x="4558903" y="2094756"/>
            <a:ext cx="6093618" cy="968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1200"/>
              </a:spcBef>
            </a:pPr>
            <a:r>
              <a:rPr lang="en-NG" sz="1800" b="1" kern="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PRACTICAL ILLUSTRATION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NG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practical illustration of the Vietoris-Rips Complex is visualised in this link - </a:t>
            </a:r>
            <a:r>
              <a:rPr lang="en-NG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https://www.geogebra.org/m/ye79r6ws</a:t>
            </a:r>
            <a:endParaRPr lang="en-NG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827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1EFA8-6ECD-48F1-9B8A-C0A4C4808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188"/>
            <a:ext cx="10515600" cy="5819775"/>
          </a:xfrm>
        </p:spPr>
        <p:txBody>
          <a:bodyPr/>
          <a:lstStyle/>
          <a:p>
            <a:pPr marL="0" indent="0">
              <a:buNone/>
            </a:pP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65795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</TotalTime>
  <Words>1299</Words>
  <Application>Microsoft Office PowerPoint</Application>
  <PresentationFormat>Widescreen</PresentationFormat>
  <Paragraphs>116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Calibri Light</vt:lpstr>
      <vt:lpstr>Cambria Math</vt:lpstr>
      <vt:lpstr>Symbol</vt:lpstr>
      <vt:lpstr>Times New Roman</vt:lpstr>
      <vt:lpstr>Office Theme</vt:lpstr>
      <vt:lpstr>Topological Data Analysis</vt:lpstr>
      <vt:lpstr>QUESTIONS ANSWERED</vt:lpstr>
      <vt:lpstr>Metric Spaces</vt:lpstr>
      <vt:lpstr>Hausdroff Distance</vt:lpstr>
      <vt:lpstr>Gromov Hausdroff Distance</vt:lpstr>
      <vt:lpstr>Gromov Hausdroff Distance- continued</vt:lpstr>
      <vt:lpstr>Difference Between Hausdorff and Gromov-Hausdorff Distances</vt:lpstr>
      <vt:lpstr>Simplicial Complex</vt:lpstr>
      <vt:lpstr>Geometric and Abstract Simplicial complex</vt:lpstr>
      <vt:lpstr>Difference between Geometric and Abstract Simplicial complex</vt:lpstr>
      <vt:lpstr>Term: Geometric Realization </vt:lpstr>
      <vt:lpstr>WAYS OF BUILDING SIMPLICIAL COMPLEXES</vt:lpstr>
      <vt:lpstr>Simplicial Complexes can simply be defined as TRIANGLES EVERYWHERE. A good diagram illustrating the creation of simplicial complexes using triangles can be seen below:</vt:lpstr>
      <vt:lpstr>An illustration of a combination of these triangles at various dimensions to create a simplicial complex: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Topological Data Analysis</dc:title>
  <dc:creator>Muhammad Usama Khan</dc:creator>
  <cp:lastModifiedBy>LEONARD ONYIRIUBA</cp:lastModifiedBy>
  <cp:revision>12</cp:revision>
  <dcterms:created xsi:type="dcterms:W3CDTF">2024-07-25T20:58:37Z</dcterms:created>
  <dcterms:modified xsi:type="dcterms:W3CDTF">2024-07-26T14:56:35Z</dcterms:modified>
</cp:coreProperties>
</file>